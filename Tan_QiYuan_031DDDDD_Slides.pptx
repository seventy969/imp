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58" r:id="rId4"/>
    <p:sldId id="259" r:id="rId5"/>
    <p:sldId id="260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261"/>
    <a:srgbClr val="40916C"/>
    <a:srgbClr val="D6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0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926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r81rF58QbzE" TargetMode="External"/><Relationship Id="rId3" Type="http://schemas.openxmlformats.org/officeDocument/2006/relationships/hyperlink" Target="file:///C:\Users\User\Desktop\IMP\%5bURL%5d" TargetMode="External"/><Relationship Id="rId7" Type="http://schemas.openxmlformats.org/officeDocument/2006/relationships/hyperlink" Target="file:///C:\Users\User\Desktop\IMP\%5bSolarChargeaControllerTestingURL%5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AOLYDHLWg1Y" TargetMode="External"/><Relationship Id="rId5" Type="http://schemas.openxmlformats.org/officeDocument/2006/relationships/hyperlink" Target="file:///C:\Users\User\Desktop\IMP\%5bSolarChargeBatteryTestingURL%5d" TargetMode="External"/><Relationship Id="rId10" Type="http://schemas.openxmlformats.org/officeDocument/2006/relationships/image" Target="../media/image11.jpeg"/><Relationship Id="rId4" Type="http://schemas.openxmlformats.org/officeDocument/2006/relationships/hyperlink" Target="https://github.com/Seventy969/IMP" TargetMode="External"/><Relationship Id="rId9" Type="http://schemas.openxmlformats.org/officeDocument/2006/relationships/hyperlink" Target="https://youtu.be/DD2j_6H0hD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SOLAR POWERED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 CUTTING ROBOT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572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385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 Robotics &amp; AI  ·  Individual Major Project  ·  Project No. 7-13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Qi Yuan </a:t>
            </a:r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031DDDDD (PSB) | qt24aae (UH)
</a:t>
            </a: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Wong Kim Siong
</a:t>
            </a: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  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April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2331720"/>
            <a:ext cx="2286000" cy="228600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395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wks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63347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duration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720840" y="29260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316382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done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20840" y="34564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Kilted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36941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SLAM + Nav2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20840" y="39867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42245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LTS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156E3D7-F903-F895-8094-B9152D1E51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66" b="6933"/>
          <a:stretch>
            <a:fillRect/>
          </a:stretch>
        </p:blipFill>
        <p:spPr>
          <a:xfrm>
            <a:off x="6675120" y="937260"/>
            <a:ext cx="2286000" cy="1316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Aims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 solar-powered autonomous grass cutting robot?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35661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749040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petrol mowers: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 CO₂ and greenhouse gases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 manual effort every week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Cause noise pollution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Carry operator safety risks
</a:t>
            </a:r>
            <a:endParaRPr lang="en-US" sz="1000" dirty="0"/>
          </a:p>
          <a:p>
            <a:pPr marL="0" indent="0">
              <a:buNone/>
            </a:pPr>
            <a:endParaRPr lang="en-US" sz="1000" b="1" i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b="1" i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b="1" i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b="1" i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b="1" i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00" b="1" i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robot mowers exist but minimum cost $1000+</a:t>
            </a:r>
            <a:endParaRPr lang="en-US" sz="1000" b="1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AA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1615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Aim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62763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develop a low-cost AI solar-powered grass cutting robot for residential lawn maintenance. Integrate </a:t>
            </a:r>
            <a:r>
              <a:rPr lang="en-US" sz="1050" dirty="0">
                <a:solidFill>
                  <a:srgbClr val="1B3A2D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10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050" dirty="0">
                <a:solidFill>
                  <a:srgbClr val="1B3A2D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r>
              <a:rPr lang="en-US" sz="10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050" dirty="0">
                <a:solidFill>
                  <a:srgbClr val="1B3A2D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</a:t>
            </a:r>
            <a:r>
              <a:rPr lang="en-US" sz="10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enabling it to </a:t>
            </a:r>
            <a:r>
              <a:rPr lang="en-US" sz="1050" dirty="0">
                <a:solidFill>
                  <a:srgbClr val="1B3A2D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r>
              <a:rPr lang="en-US" sz="10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050" dirty="0">
                <a:solidFill>
                  <a:srgbClr val="1B3A2D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plan efficient cutting paths</a:t>
            </a:r>
            <a:r>
              <a:rPr lang="en-US" sz="10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>
                <a:solidFill>
                  <a:srgbClr val="1B3A2D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avoid object in real time</a:t>
            </a:r>
            <a:r>
              <a:rPr lang="en-US" sz="10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050" dirty="0">
                <a:solidFill>
                  <a:srgbClr val="1B3A2D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renewable solar energy to reduce manual effort </a:t>
            </a:r>
            <a:r>
              <a:rPr lang="en-US" sz="10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050" dirty="0">
                <a:solidFill>
                  <a:srgbClr val="1B3A2D"/>
                </a:solidFill>
                <a:highlight>
                  <a:srgbClr val="00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promote eco-friendly smart home automation</a:t>
            </a:r>
            <a:r>
              <a:rPr lang="en-US" sz="105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653284"/>
            <a:ext cx="219456" cy="121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644140"/>
            <a:ext cx="219456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10912" y="2572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charging power system  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81728" y="2897124"/>
            <a:ext cx="219456" cy="121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2887980"/>
            <a:ext cx="219456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10912" y="30596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scanning + SLAM mapping + Saved map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81728" y="3140964"/>
            <a:ext cx="219456" cy="121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3131820"/>
            <a:ext cx="219456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10912" y="28163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2WD teleoperation via ROS2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10912" y="35554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mechanism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3881628"/>
            <a:ext cx="219456" cy="12192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872484"/>
            <a:ext cx="219456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10912" y="38054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(object detection + recognition) 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Solar Grass Cutting Robot  |  Tan Qi Yuan  |  9 April 2026  |  BEng Robotics &amp; AI</a:t>
            </a:r>
            <a:endParaRPr lang="en-US" sz="800" dirty="0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D590C657-60B9-E227-AA72-E4DFDBC50A30}"/>
              </a:ext>
            </a:extLst>
          </p:cNvPr>
          <p:cNvSpPr/>
          <p:nvPr/>
        </p:nvSpPr>
        <p:spPr>
          <a:xfrm>
            <a:off x="4681728" y="4130040"/>
            <a:ext cx="219456" cy="12192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3ADC4962-3BEB-C7E0-1F70-C1EEFC63F7FE}"/>
              </a:ext>
            </a:extLst>
          </p:cNvPr>
          <p:cNvSpPr/>
          <p:nvPr/>
        </p:nvSpPr>
        <p:spPr>
          <a:xfrm>
            <a:off x="4681728" y="4120896"/>
            <a:ext cx="219456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99A5A532-FD66-BEB7-865C-44294DDD7792}"/>
              </a:ext>
            </a:extLst>
          </p:cNvPr>
          <p:cNvSpPr/>
          <p:nvPr/>
        </p:nvSpPr>
        <p:spPr>
          <a:xfrm>
            <a:off x="5010912" y="4050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--&gt; Autonomous Navigation </a:t>
            </a:r>
          </a:p>
        </p:txBody>
      </p:sp>
      <p:sp>
        <p:nvSpPr>
          <p:cNvPr id="35" name="Shape 23">
            <a:extLst>
              <a:ext uri="{FF2B5EF4-FFF2-40B4-BE49-F238E27FC236}">
                <a16:creationId xmlns:a16="http://schemas.microsoft.com/office/drawing/2014/main" id="{1F20B1BB-85FB-330E-315D-DEA28A830653}"/>
              </a:ext>
            </a:extLst>
          </p:cNvPr>
          <p:cNvSpPr/>
          <p:nvPr/>
        </p:nvSpPr>
        <p:spPr>
          <a:xfrm>
            <a:off x="4681728" y="4379976"/>
            <a:ext cx="219456" cy="12192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79A3E50B-246D-DFBA-FDCD-956A6369533D}"/>
              </a:ext>
            </a:extLst>
          </p:cNvPr>
          <p:cNvSpPr/>
          <p:nvPr/>
        </p:nvSpPr>
        <p:spPr>
          <a:xfrm>
            <a:off x="4681728" y="4370832"/>
            <a:ext cx="219456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C44761DD-E3A2-783B-0763-58E7A55AA6F3}"/>
              </a:ext>
            </a:extLst>
          </p:cNvPr>
          <p:cNvSpPr/>
          <p:nvPr/>
        </p:nvSpPr>
        <p:spPr>
          <a:xfrm>
            <a:off x="5010912" y="43037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Object Avoidance + Plan cutting paths</a:t>
            </a: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24A44A89-3FC7-F7CD-A602-E2FBE6845D36}"/>
              </a:ext>
            </a:extLst>
          </p:cNvPr>
          <p:cNvSpPr/>
          <p:nvPr/>
        </p:nvSpPr>
        <p:spPr>
          <a:xfrm>
            <a:off x="5010912" y="33096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Chassis &amp; Assembled</a:t>
            </a:r>
            <a:endParaRPr lang="en-US" sz="1000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EEA393F4-0253-DE12-C9AD-205136B6B228}"/>
              </a:ext>
            </a:extLst>
          </p:cNvPr>
          <p:cNvSpPr/>
          <p:nvPr/>
        </p:nvSpPr>
        <p:spPr>
          <a:xfrm>
            <a:off x="4681728" y="3390900"/>
            <a:ext cx="219456" cy="121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33C226CF-D2D1-452E-49BB-849D3DF65135}"/>
              </a:ext>
            </a:extLst>
          </p:cNvPr>
          <p:cNvSpPr/>
          <p:nvPr/>
        </p:nvSpPr>
        <p:spPr>
          <a:xfrm>
            <a:off x="4681728" y="3381756"/>
            <a:ext cx="219456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A153F4FC-EF8A-8DE0-BF86-A7D1AC690268}"/>
              </a:ext>
            </a:extLst>
          </p:cNvPr>
          <p:cNvSpPr/>
          <p:nvPr/>
        </p:nvSpPr>
        <p:spPr>
          <a:xfrm>
            <a:off x="4681728" y="3637788"/>
            <a:ext cx="219456" cy="121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B5DB1940-40E3-861B-F2DE-103B566FFC95}"/>
              </a:ext>
            </a:extLst>
          </p:cNvPr>
          <p:cNvSpPr/>
          <p:nvPr/>
        </p:nvSpPr>
        <p:spPr>
          <a:xfrm>
            <a:off x="4681728" y="3628644"/>
            <a:ext cx="219456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subsystems connected through Raspberry Pi 4B running ROS2 Kilted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42245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70432"/>
            <a:ext cx="64008" cy="1737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25296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Power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55448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2× 4W Dexter Solar Panels (series) [21V / 0.5A]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└─&gt; PWM Solar Charge Controller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└─&gt; 12.6V BMS + 3S3P 18650 Battery [11.1V / 12.6V]</a:t>
            </a:r>
            <a:endParaRPr lang="en-US" sz="920" dirty="0"/>
          </a:p>
          <a:p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├ LM2596 5V → RPi → LIDAR via USB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├ L298N #1  → 4× DC Drive Motors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└ L298N #2  → 1× DC Cutter Motor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681728" y="1170432"/>
            <a:ext cx="42245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170432"/>
            <a:ext cx="64008" cy="1737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25296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Locomotion &amp; Cutting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4× 5V DC Motors — 2WD config</a:t>
            </a:r>
            <a:endParaRPr lang="en-US" sz="920" b="1" dirty="0"/>
          </a:p>
          <a:p>
            <a:pPr marL="0" indent="0">
              <a:buNone/>
            </a:pPr>
            <a:r>
              <a:rPr lang="en-US" sz="92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L298N #1  GPIO BCM:</a:t>
            </a:r>
            <a:endParaRPr lang="en-US" sz="920" b="1" dirty="0"/>
          </a:p>
          <a:p>
            <a:pPr marL="0" indent="0">
              <a:buNone/>
            </a:pPr>
            <a:r>
              <a:rPr lang="en-US" sz="92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 = 13(IN1) / 19(IN2) / 26(ENA)</a:t>
            </a:r>
            <a:endParaRPr lang="en-US" sz="920" b="1" dirty="0"/>
          </a:p>
          <a:p>
            <a:pPr marL="0" indent="0">
              <a:buNone/>
            </a:pPr>
            <a:r>
              <a:rPr lang="en-US" sz="92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=  5(IN3) /  6(IN4) / 12(ENB)</a:t>
            </a:r>
          </a:p>
          <a:p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 1000Hz — </a:t>
            </a:r>
            <a:r>
              <a:rPr lang="en-US" sz="92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teleop</a:t>
            </a: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via ROS2 (</a:t>
            </a:r>
            <a:r>
              <a:rPr lang="en-US" sz="92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Xterm</a:t>
            </a: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r>
              <a:rPr lang="en-US" sz="92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1× 5V DC Motor (Cutter)</a:t>
            </a:r>
            <a:endParaRPr lang="en-US" sz="920" b="1" dirty="0"/>
          </a:p>
          <a:p>
            <a:pPr marL="0" indent="0">
              <a:buNone/>
            </a:pPr>
            <a:r>
              <a:rPr lang="en-US" sz="92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L298N #2  GPIO BCM: 16(IN3) / 20(IN4) / 21(ENB)</a:t>
            </a:r>
          </a:p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</a:rPr>
              <a:t>cutter_controller.py to control the cutter ON/OFF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28600" y="3035808"/>
            <a:ext cx="4224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035808"/>
            <a:ext cx="64008" cy="17830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09067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Sensing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" y="3401568"/>
            <a:ext cx="397764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RPLidar A1M8           — USB to </a:t>
            </a:r>
            <a:r>
              <a:rPr lang="en-US" sz="92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RSPi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(/scan)           — RVIZ2  ✔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Teleop (/cmd_vel)      — ROS2   ✔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SLAM Toolbox           — map saved ✔ (.pgm | .yaml)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(Pi Cam)        — not working (OS issue)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Ultrasonic + SG90 / LDR — not integrated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681728" y="3035808"/>
            <a:ext cx="4224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3035808"/>
            <a:ext cx="64008" cy="1783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9067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Computation &amp; Software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401568"/>
            <a:ext cx="397764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4B (4GB RAM)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24.04 LTS + XFCE (Headless Setup)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Putty SSH + TigerVNC remote access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Kilted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case + Dual fan cooling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Solar Grass Cutting Robot  |  Tan Qi Yuan  |  9 April 2026  |  BEng Robotics &amp; AI</a:t>
            </a:r>
            <a:endParaRPr lang="en-US" sz="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087F09C-1BDC-DB5B-AE04-0827D53130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248" t="58844" r="23256" b="8741"/>
          <a:stretch>
            <a:fillRect/>
          </a:stretch>
        </p:blipFill>
        <p:spPr>
          <a:xfrm>
            <a:off x="7359813" y="1115568"/>
            <a:ext cx="1721703" cy="12801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CF7C4D9-0151-21D0-D102-819944EDEE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513" t="61243" r="53358" b="22035"/>
          <a:stretch>
            <a:fillRect/>
          </a:stretch>
        </p:blipFill>
        <p:spPr>
          <a:xfrm>
            <a:off x="2506980" y="4271193"/>
            <a:ext cx="675133" cy="54312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50F183C-44E2-CC6E-659A-5E601705D9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558" t="9245" r="42486" b="69867"/>
          <a:stretch>
            <a:fillRect/>
          </a:stretch>
        </p:blipFill>
        <p:spPr>
          <a:xfrm>
            <a:off x="3182113" y="4186064"/>
            <a:ext cx="1278082" cy="6236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F93B4EC-5817-33D8-21C0-D16E632BADF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32" t="59806" r="36107" b="29839"/>
          <a:stretch>
            <a:fillRect/>
          </a:stretch>
        </p:blipFill>
        <p:spPr bwMode="auto">
          <a:xfrm>
            <a:off x="7639291" y="3036999"/>
            <a:ext cx="1162746" cy="5581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1" name="Picture 30" descr="Raspberry Pi 4 Pi 5 Aluminum Heatsink Heat Sink Case with Dual Fan">
            <a:extLst>
              <a:ext uri="{FF2B5EF4-FFF2-40B4-BE49-F238E27FC236}">
                <a16:creationId xmlns:a16="http://schemas.microsoft.com/office/drawing/2014/main" id="{CC096605-EBFF-5C49-C276-4DA503AA6DC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5" t="7881" r="15568" b="11664"/>
          <a:stretch>
            <a:fillRect/>
          </a:stretch>
        </p:blipFill>
        <p:spPr bwMode="auto">
          <a:xfrm>
            <a:off x="7528305" y="3602737"/>
            <a:ext cx="1295655" cy="113653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707C1C7-242A-FFA8-B288-5D5F3681773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579" y="2445102"/>
            <a:ext cx="1353833" cy="14131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DAC6AF-9FE0-BA20-CFCC-1D6DFEB6E1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" r="52515" b="28512"/>
          <a:stretch>
            <a:fillRect/>
          </a:stretch>
        </p:blipFill>
        <p:spPr>
          <a:xfrm>
            <a:off x="310896" y="2222318"/>
            <a:ext cx="1098683" cy="8696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FAB597F-A893-48E6-344A-C8BE7D1916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871" y="2445102"/>
            <a:ext cx="1575416" cy="9499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what was achieved against each objective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" y="1143000"/>
            <a:ext cx="2331720" cy="29260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16128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41448" y="1143000"/>
            <a:ext cx="804672" cy="29260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116128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5760720" cy="29260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16128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" y="1435608"/>
            <a:ext cx="2331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1453896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charging system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246120" y="1435608"/>
            <a:ext cx="5760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0984" y="1453896"/>
            <a:ext cx="5669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multimeter. Solar panels insufficient current for whole system operation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09728" y="1865376"/>
            <a:ext cx="2331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1883664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2WD Teleoperation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441448" y="1865376"/>
            <a:ext cx="804672" cy="429768"/>
          </a:xfrm>
          <a:prstGeom prst="rect">
            <a:avLst/>
          </a:prstGeom>
          <a:solidFill>
            <a:srgbClr val="B7E0C2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1883664"/>
            <a:ext cx="713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Done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246120" y="1865376"/>
            <a:ext cx="5760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1883664"/>
            <a:ext cx="5669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8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keyboard_teleop</a:t>
            </a: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/</a:t>
            </a:r>
            <a:r>
              <a:rPr lang="en-US" sz="88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cmd_vel</a:t>
            </a: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GPIO → motors via VNC. </a:t>
            </a:r>
          </a:p>
          <a:p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linear speed too fast; turning too slow — PWM tuning needed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109728" y="2295144"/>
            <a:ext cx="2331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2313432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scanning (RVIZ2)</a:t>
            </a:r>
            <a:r>
              <a:rPr lang="en-US" sz="880" dirty="0"/>
              <a:t> + </a:t>
            </a:r>
            <a:r>
              <a:rPr lang="en-US" sz="8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mapping + map saved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441448" y="2295144"/>
            <a:ext cx="804672" cy="429768"/>
          </a:xfrm>
          <a:prstGeom prst="rect">
            <a:avLst/>
          </a:prstGeom>
          <a:solidFill>
            <a:srgbClr val="B7E0C2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96312" y="2313432"/>
            <a:ext cx="713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Done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246120" y="2295144"/>
            <a:ext cx="5760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00984" y="2313432"/>
            <a:ext cx="5669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8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RPLidar</a:t>
            </a: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A1M8 → /scan topic verified live in RVIZ2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grid maps built and saved via map_saver_cli to ~/robot/maps/ (.pgm | .yaml)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109728" y="2724912"/>
            <a:ext cx="2331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" y="2743200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441448" y="2724912"/>
            <a:ext cx="804672" cy="429768"/>
          </a:xfrm>
          <a:prstGeom prst="rect">
            <a:avLst/>
          </a:prstGeom>
          <a:solidFill>
            <a:srgbClr val="B7E0C2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96312" y="2743200"/>
            <a:ext cx="713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Done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3246120" y="2724912"/>
            <a:ext cx="5760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00984" y="2743200"/>
            <a:ext cx="5669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109728" y="3154680"/>
            <a:ext cx="2331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" y="3172968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mechanism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3246120" y="3154680"/>
            <a:ext cx="5760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0984" y="3172968"/>
            <a:ext cx="5669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#2 wiring complete (BCM 16/20/21)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109728" y="3584448"/>
            <a:ext cx="2331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3602736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integration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2441448" y="3584448"/>
            <a:ext cx="804672" cy="429768"/>
          </a:xfrm>
          <a:prstGeom prst="rect">
            <a:avLst/>
          </a:prstGeom>
          <a:solidFill>
            <a:srgbClr val="F4C2C2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6312" y="3602736"/>
            <a:ext cx="713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3246120" y="3584448"/>
            <a:ext cx="5760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00984" y="3602736"/>
            <a:ext cx="5669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libcamera incompatible with Ubuntu Server 24.04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109728" y="4014216"/>
            <a:ext cx="2331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4592" y="4032504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 (Nav2)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2441448" y="4014216"/>
            <a:ext cx="804672" cy="429768"/>
          </a:xfrm>
          <a:prstGeom prst="rect">
            <a:avLst/>
          </a:prstGeom>
          <a:solidFill>
            <a:srgbClr val="F4C2C2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6312" y="4032504"/>
            <a:ext cx="713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3246120" y="4014216"/>
            <a:ext cx="5760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00984" y="4032504"/>
            <a:ext cx="5669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configured and loads saved map. Needs real odometry (no wheel encoders / IMU)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109728" y="4443984"/>
            <a:ext cx="2331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4592" y="4462272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Avoidance + Path Planning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3246120" y="4443984"/>
            <a:ext cx="5760720" cy="429768"/>
          </a:xfrm>
          <a:prstGeom prst="rect">
            <a:avLst/>
          </a:prstGeom>
          <a:solidFill>
            <a:srgbClr val="FAFAF5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00984" y="4462272"/>
            <a:ext cx="5669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 show object detection. Boustrophedon cutting path plan planned but tested yet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Solar Grass Cutting Robot  |  Tan Qi Yuan  |  9 April 2026  |  BEng Robotics &amp; AI</a:t>
            </a:r>
            <a:endParaRPr lang="en-US" sz="8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FD5FC5E-B4C7-B19A-0088-12CBCCB0D1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600"/>
          <a:stretch>
            <a:fillRect/>
          </a:stretch>
        </p:blipFill>
        <p:spPr>
          <a:xfrm>
            <a:off x="7694676" y="1453896"/>
            <a:ext cx="1312164" cy="798801"/>
          </a:xfrm>
          <a:prstGeom prst="rect">
            <a:avLst/>
          </a:prstGeom>
        </p:spPr>
      </p:pic>
      <p:sp>
        <p:nvSpPr>
          <p:cNvPr id="66" name="Shape 30">
            <a:extLst>
              <a:ext uri="{FF2B5EF4-FFF2-40B4-BE49-F238E27FC236}">
                <a16:creationId xmlns:a16="http://schemas.microsoft.com/office/drawing/2014/main" id="{131B3AFE-CA6F-E5D2-C921-0EE38EAFC82E}"/>
              </a:ext>
            </a:extLst>
          </p:cNvPr>
          <p:cNvSpPr/>
          <p:nvPr/>
        </p:nvSpPr>
        <p:spPr>
          <a:xfrm>
            <a:off x="2441448" y="3150108"/>
            <a:ext cx="804672" cy="429768"/>
          </a:xfrm>
          <a:prstGeom prst="rect">
            <a:avLst/>
          </a:prstGeom>
          <a:solidFill>
            <a:srgbClr val="B7E0C2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744FDD66-42F3-84AC-CF8E-DEB61F835DE7}"/>
              </a:ext>
            </a:extLst>
          </p:cNvPr>
          <p:cNvSpPr/>
          <p:nvPr/>
        </p:nvSpPr>
        <p:spPr>
          <a:xfrm>
            <a:off x="2496312" y="3168396"/>
            <a:ext cx="713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Done</a:t>
            </a:r>
            <a:endParaRPr lang="en-US" sz="880" dirty="0"/>
          </a:p>
        </p:txBody>
      </p:sp>
      <p:sp>
        <p:nvSpPr>
          <p:cNvPr id="68" name="Shape 18">
            <a:extLst>
              <a:ext uri="{FF2B5EF4-FFF2-40B4-BE49-F238E27FC236}">
                <a16:creationId xmlns:a16="http://schemas.microsoft.com/office/drawing/2014/main" id="{B3D79AE0-39E7-2E32-E09A-BD1F17C07CC4}"/>
              </a:ext>
            </a:extLst>
          </p:cNvPr>
          <p:cNvSpPr/>
          <p:nvPr/>
        </p:nvSpPr>
        <p:spPr>
          <a:xfrm>
            <a:off x="2441448" y="1435608"/>
            <a:ext cx="804672" cy="429768"/>
          </a:xfrm>
          <a:prstGeom prst="rect">
            <a:avLst/>
          </a:prstGeom>
          <a:solidFill>
            <a:srgbClr val="B7E0C2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3EDE106D-7CBB-A957-026B-F4ED68EB4556}"/>
              </a:ext>
            </a:extLst>
          </p:cNvPr>
          <p:cNvSpPr/>
          <p:nvPr/>
        </p:nvSpPr>
        <p:spPr>
          <a:xfrm>
            <a:off x="2496312" y="1453896"/>
            <a:ext cx="713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Done</a:t>
            </a:r>
            <a:endParaRPr lang="en-US" sz="880" dirty="0"/>
          </a:p>
        </p:txBody>
      </p:sp>
      <p:sp>
        <p:nvSpPr>
          <p:cNvPr id="70" name="Text 53">
            <a:extLst>
              <a:ext uri="{FF2B5EF4-FFF2-40B4-BE49-F238E27FC236}">
                <a16:creationId xmlns:a16="http://schemas.microsoft.com/office/drawing/2014/main" id="{AF36507A-04AB-C357-CA26-BC3B0E5BAD3A}"/>
              </a:ext>
            </a:extLst>
          </p:cNvPr>
          <p:cNvSpPr/>
          <p:nvPr/>
        </p:nvSpPr>
        <p:spPr>
          <a:xfrm>
            <a:off x="164592" y="2740914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chassis assembly</a:t>
            </a:r>
            <a:endParaRPr lang="en-US" sz="880" dirty="0"/>
          </a:p>
        </p:txBody>
      </p:sp>
      <p:sp>
        <p:nvSpPr>
          <p:cNvPr id="72" name="Text 57">
            <a:extLst>
              <a:ext uri="{FF2B5EF4-FFF2-40B4-BE49-F238E27FC236}">
                <a16:creationId xmlns:a16="http://schemas.microsoft.com/office/drawing/2014/main" id="{8E0FF3D9-3623-EDA2-3F42-5B21B8A87ACC}"/>
              </a:ext>
            </a:extLst>
          </p:cNvPr>
          <p:cNvSpPr/>
          <p:nvPr/>
        </p:nvSpPr>
        <p:spPr>
          <a:xfrm>
            <a:off x="3300984" y="2740914"/>
            <a:ext cx="5669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Cults3D design printed and assembled at school</a:t>
            </a:r>
            <a:endParaRPr lang="en-US" sz="880" dirty="0"/>
          </a:p>
        </p:txBody>
      </p:sp>
      <p:sp>
        <p:nvSpPr>
          <p:cNvPr id="75" name="Shape 48">
            <a:extLst>
              <a:ext uri="{FF2B5EF4-FFF2-40B4-BE49-F238E27FC236}">
                <a16:creationId xmlns:a16="http://schemas.microsoft.com/office/drawing/2014/main" id="{F3E5C921-932A-5A1A-7067-24C42919C4E4}"/>
              </a:ext>
            </a:extLst>
          </p:cNvPr>
          <p:cNvSpPr/>
          <p:nvPr/>
        </p:nvSpPr>
        <p:spPr>
          <a:xfrm>
            <a:off x="2441448" y="4443984"/>
            <a:ext cx="804672" cy="429768"/>
          </a:xfrm>
          <a:prstGeom prst="rect">
            <a:avLst/>
          </a:prstGeom>
          <a:solidFill>
            <a:srgbClr val="F4C2C2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76" name="Text 49">
            <a:extLst>
              <a:ext uri="{FF2B5EF4-FFF2-40B4-BE49-F238E27FC236}">
                <a16:creationId xmlns:a16="http://schemas.microsoft.com/office/drawing/2014/main" id="{69AA0473-8449-9827-16BA-C7BF07A34EF2}"/>
              </a:ext>
            </a:extLst>
          </p:cNvPr>
          <p:cNvSpPr/>
          <p:nvPr/>
        </p:nvSpPr>
        <p:spPr>
          <a:xfrm>
            <a:off x="2496312" y="4462272"/>
            <a:ext cx="7132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Key Challenges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and how to fix 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420624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70432"/>
            <a:ext cx="64008" cy="116128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704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SD Card Failure (Biggest Impact)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20624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70432"/>
            <a:ext cx="64008" cy="11612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704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🌞  Solar Power — Not Enough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441448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441448"/>
            <a:ext cx="64008" cy="10972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41448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SG" dirty="0"/>
          </a:p>
        </p:txBody>
      </p:sp>
      <p:sp>
        <p:nvSpPr>
          <p:cNvPr id="19" name="Shape 17"/>
          <p:cNvSpPr/>
          <p:nvPr/>
        </p:nvSpPr>
        <p:spPr>
          <a:xfrm>
            <a:off x="4709160" y="2441448"/>
            <a:ext cx="64008" cy="1097280"/>
          </a:xfrm>
          <a:prstGeom prst="rect">
            <a:avLst/>
          </a:prstGeom>
          <a:solidFill>
            <a:srgbClr val="D62828"/>
          </a:solidFill>
          <a:ln w="12700">
            <a:noFill/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Solar Grass Cutting Robot  |  Tan Qi Yuan  |  9 April 2026  |  BEng Robotics &amp; AI</a:t>
            </a:r>
            <a:endParaRPr lang="en-US" sz="8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DB70C774-62C7-8680-70E9-F753EC4B9733}"/>
              </a:ext>
            </a:extLst>
          </p:cNvPr>
          <p:cNvSpPr/>
          <p:nvPr/>
        </p:nvSpPr>
        <p:spPr>
          <a:xfrm>
            <a:off x="228600" y="3643884"/>
            <a:ext cx="4206240" cy="11384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15175F7E-6E25-30EA-41E8-37B8909E1758}"/>
              </a:ext>
            </a:extLst>
          </p:cNvPr>
          <p:cNvSpPr/>
          <p:nvPr/>
        </p:nvSpPr>
        <p:spPr>
          <a:xfrm>
            <a:off x="228600" y="3643884"/>
            <a:ext cx="64008" cy="1138428"/>
          </a:xfrm>
          <a:prstGeom prst="rect">
            <a:avLst/>
          </a:prstGeom>
          <a:solidFill>
            <a:srgbClr val="F4A261"/>
          </a:solidFill>
          <a:ln w="12700">
            <a:noFill/>
            <a:prstDash val="solid"/>
          </a:ln>
        </p:spPr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6B6AD09B-9B4B-68D7-E3A4-8D775CE4AD1E}"/>
              </a:ext>
            </a:extLst>
          </p:cNvPr>
          <p:cNvSpPr/>
          <p:nvPr/>
        </p:nvSpPr>
        <p:spPr>
          <a:xfrm>
            <a:off x="4709160" y="3643884"/>
            <a:ext cx="4206240" cy="11384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SG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51D7EE8A-DDC7-FA8A-4302-EE769BAA10CF}"/>
              </a:ext>
            </a:extLst>
          </p:cNvPr>
          <p:cNvSpPr/>
          <p:nvPr/>
        </p:nvSpPr>
        <p:spPr>
          <a:xfrm>
            <a:off x="4709160" y="3643884"/>
            <a:ext cx="64008" cy="11384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4353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Camera — OS Incompatibility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" y="2682240"/>
            <a:ext cx="2311908" cy="774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 needs libcamera stack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libcamera only works on Raspberry Pi 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24.04 LTS does not support 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73752" y="24414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Nav2 — No Odometry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3752" y="2682240"/>
            <a:ext cx="2456688" cy="774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launches + loads saved map  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AMCL needs real odometry to localise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wheel encoders or IMU = position drift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1415034"/>
            <a:ext cx="229362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failed Feb 2026 — lost ALL 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 weeks wasted rebuilding from scratch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backups were kept (lesson learned)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autonomous navigation past deadline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73752" y="1453896"/>
            <a:ext cx="2167128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panels = max 0.5A output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motors + LIDAR + RPi need more current under load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only practical for idle battery charging</a:t>
            </a:r>
            <a:endParaRPr lang="en-US" sz="90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269D54C6-881F-E955-BF25-05AED7995AE6}"/>
              </a:ext>
            </a:extLst>
          </p:cNvPr>
          <p:cNvSpPr/>
          <p:nvPr/>
        </p:nvSpPr>
        <p:spPr>
          <a:xfrm>
            <a:off x="393192" y="36489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Speed Tuning — No Stable </a:t>
            </a:r>
            <a:endParaRPr lang="en-US" sz="10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FF1F99D2-F35D-C0D1-2FE3-DD18117C6880}"/>
              </a:ext>
            </a:extLst>
          </p:cNvPr>
          <p:cNvSpPr/>
          <p:nvPr/>
        </p:nvSpPr>
        <p:spPr>
          <a:xfrm>
            <a:off x="393192" y="3972052"/>
            <a:ext cx="2311908" cy="734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too fast in forward/reverse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too slowly</a:t>
            </a: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94F80A36-E89D-3267-D229-CBC80DA55B07}"/>
              </a:ext>
            </a:extLst>
          </p:cNvPr>
          <p:cNvSpPr/>
          <p:nvPr/>
        </p:nvSpPr>
        <p:spPr>
          <a:xfrm>
            <a:off x="4873752" y="3641217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3D Chassis — Not Customize</a:t>
            </a:r>
            <a:endParaRPr lang="en-US" sz="10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7ADB0893-95EF-D56F-C363-EF29EAB021A2}"/>
              </a:ext>
            </a:extLst>
          </p:cNvPr>
          <p:cNvSpPr/>
          <p:nvPr/>
        </p:nvSpPr>
        <p:spPr>
          <a:xfrm>
            <a:off x="4873752" y="3972052"/>
            <a:ext cx="2456688" cy="734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keep touching robot body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 for more components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wiring management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 for outdoor use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high </a:t>
            </a:r>
          </a:p>
          <a:p>
            <a:pPr marL="0" indent="0">
              <a:buNone/>
            </a:pPr>
            <a:endParaRPr lang="en-US" sz="9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DF6BB804-12CE-BEE4-FC4A-6425F6DDAFB2}"/>
              </a:ext>
            </a:extLst>
          </p:cNvPr>
          <p:cNvSpPr/>
          <p:nvPr/>
        </p:nvSpPr>
        <p:spPr>
          <a:xfrm>
            <a:off x="2586990" y="1168400"/>
            <a:ext cx="1844040" cy="1157224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BFA4250C-F236-0055-34F0-03D2B23873A7}"/>
              </a:ext>
            </a:extLst>
          </p:cNvPr>
          <p:cNvSpPr/>
          <p:nvPr/>
        </p:nvSpPr>
        <p:spPr>
          <a:xfrm>
            <a:off x="2577084" y="3643884"/>
            <a:ext cx="1844040" cy="113842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63FC5751-7E9F-B607-748E-FF6A128AC8BD}"/>
              </a:ext>
            </a:extLst>
          </p:cNvPr>
          <p:cNvSpPr/>
          <p:nvPr/>
        </p:nvSpPr>
        <p:spPr>
          <a:xfrm>
            <a:off x="7071360" y="1171956"/>
            <a:ext cx="1844040" cy="11536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47" name="Shape 0">
            <a:extLst>
              <a:ext uri="{FF2B5EF4-FFF2-40B4-BE49-F238E27FC236}">
                <a16:creationId xmlns:a16="http://schemas.microsoft.com/office/drawing/2014/main" id="{DF90E89E-3A87-C562-059F-FC5A35A8EBC1}"/>
              </a:ext>
            </a:extLst>
          </p:cNvPr>
          <p:cNvSpPr/>
          <p:nvPr/>
        </p:nvSpPr>
        <p:spPr>
          <a:xfrm>
            <a:off x="7071360" y="2445512"/>
            <a:ext cx="1844040" cy="1093216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48" name="Shape 0">
            <a:extLst>
              <a:ext uri="{FF2B5EF4-FFF2-40B4-BE49-F238E27FC236}">
                <a16:creationId xmlns:a16="http://schemas.microsoft.com/office/drawing/2014/main" id="{DCCFAE57-0422-6AB6-95C8-A9DE0F5E7691}"/>
              </a:ext>
            </a:extLst>
          </p:cNvPr>
          <p:cNvSpPr/>
          <p:nvPr/>
        </p:nvSpPr>
        <p:spPr>
          <a:xfrm>
            <a:off x="7071360" y="3641216"/>
            <a:ext cx="1844040" cy="1137031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49" name="Shape 0">
            <a:extLst>
              <a:ext uri="{FF2B5EF4-FFF2-40B4-BE49-F238E27FC236}">
                <a16:creationId xmlns:a16="http://schemas.microsoft.com/office/drawing/2014/main" id="{F2B1A841-D84F-2C7E-5CED-DF7F4654361C}"/>
              </a:ext>
            </a:extLst>
          </p:cNvPr>
          <p:cNvSpPr/>
          <p:nvPr/>
        </p:nvSpPr>
        <p:spPr>
          <a:xfrm>
            <a:off x="2590800" y="2447798"/>
            <a:ext cx="1844040" cy="10820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3457DAA8-C98B-9F53-1977-5EAD4B5C139B}"/>
              </a:ext>
            </a:extLst>
          </p:cNvPr>
          <p:cNvSpPr/>
          <p:nvPr/>
        </p:nvSpPr>
        <p:spPr>
          <a:xfrm>
            <a:off x="2676144" y="1374648"/>
            <a:ext cx="1665732" cy="7513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1: Git version control </a:t>
            </a:r>
          </a:p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2: full setup.sh automation script</a:t>
            </a:r>
          </a:p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3: Buy an extra MicroSD card</a:t>
            </a:r>
            <a:endParaRPr lang="en-US" sz="920" b="1" dirty="0">
              <a:solidFill>
                <a:schemeClr val="bg1"/>
              </a:solidFill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AD41B0D8-7583-5CD9-E712-1705BD009229}"/>
              </a:ext>
            </a:extLst>
          </p:cNvPr>
          <p:cNvSpPr/>
          <p:nvPr/>
        </p:nvSpPr>
        <p:spPr>
          <a:xfrm>
            <a:off x="2705100" y="2606040"/>
            <a:ext cx="1677924" cy="765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1: Use a standard USB webcam instead</a:t>
            </a:r>
          </a:p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2: Use a second RPi with RPi OS and let both boards communicate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81C82710-D7F4-D8B8-3B68-5F844E7FEA78}"/>
              </a:ext>
            </a:extLst>
          </p:cNvPr>
          <p:cNvSpPr/>
          <p:nvPr/>
        </p:nvSpPr>
        <p:spPr>
          <a:xfrm>
            <a:off x="7223760" y="1570355"/>
            <a:ext cx="1539240" cy="353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Sol: Use higher wattage solar panel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41CD4777-62EF-8836-5FF4-1E55044C88A2}"/>
              </a:ext>
            </a:extLst>
          </p:cNvPr>
          <p:cNvSpPr/>
          <p:nvPr/>
        </p:nvSpPr>
        <p:spPr>
          <a:xfrm>
            <a:off x="7232904" y="2507742"/>
            <a:ext cx="1520952" cy="96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1: Add wheel encoders — Accurate distance + speed per wheel &amp; Add IMU (Inertial Measurement Unit) — Rotation drift, straight-line </a:t>
            </a:r>
          </a:p>
          <a:p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2: Create fake odometry node 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13C5718-FF04-48C3-C8C2-1D84EA2E0542}"/>
              </a:ext>
            </a:extLst>
          </p:cNvPr>
          <p:cNvSpPr/>
          <p:nvPr/>
        </p:nvSpPr>
        <p:spPr>
          <a:xfrm>
            <a:off x="2692908" y="3830574"/>
            <a:ext cx="1677924" cy="764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1: Reduce PWM duty cycle in </a:t>
            </a:r>
            <a:r>
              <a:rPr lang="en-US" sz="9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motor_control</a:t>
            </a: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node</a:t>
            </a:r>
          </a:p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angular gain / angular velocity cap in </a:t>
            </a:r>
            <a:r>
              <a:rPr lang="en-US" sz="9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motor_control</a:t>
            </a: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node</a:t>
            </a: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9B2870DD-019E-059A-7D22-8B43038808C0}"/>
              </a:ext>
            </a:extLst>
          </p:cNvPr>
          <p:cNvSpPr/>
          <p:nvPr/>
        </p:nvSpPr>
        <p:spPr>
          <a:xfrm>
            <a:off x="7229856" y="3843909"/>
            <a:ext cx="1520952" cy="734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1: Design in Fusion 360, make a weatherproof enclosure, implement more cooling fans to reduce high temperature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097280"/>
            <a:ext cx="3657600" cy="365760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6576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1350"/>
            <a:ext cx="310896" cy="310896"/>
          </a:xfrm>
          <a:prstGeom prst="ellipse">
            <a:avLst/>
          </a:prstGeom>
          <a:solidFill>
            <a:srgbClr val="74C69D">
              <a:alpha val="75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135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072664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charging circuit — BMS + LM2596 stable 5V supply confirmed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49500"/>
            <a:ext cx="310896" cy="310896"/>
          </a:xfrm>
          <a:prstGeom prst="ellipse">
            <a:avLst/>
          </a:prstGeom>
          <a:solidFill>
            <a:srgbClr val="74C69D">
              <a:alpha val="75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495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1505099"/>
            <a:ext cx="8065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2WD teleoperation working — full ROS2 → GPIO → motor pipeline verified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02890"/>
            <a:ext cx="310896" cy="310896"/>
          </a:xfrm>
          <a:prstGeom prst="ellipse">
            <a:avLst/>
          </a:prstGeom>
          <a:solidFill>
            <a:srgbClr val="74C69D">
              <a:alpha val="75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028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1964204"/>
            <a:ext cx="8065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RPLidar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A1M8 fully integrated with ROS2 — live scan in RVIZ2 | SLAM mapping complete — maps saved with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map_saver_cli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(.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pgm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.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79140"/>
            <a:ext cx="310896" cy="310896"/>
          </a:xfrm>
          <a:prstGeom prst="ellipse">
            <a:avLst/>
          </a:prstGeom>
          <a:solidFill>
            <a:srgbClr val="74C69D">
              <a:alpha val="75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791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440454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mechanism — safe prototype zip-tie blade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59200"/>
            <a:ext cx="310896" cy="310896"/>
          </a:xfrm>
          <a:prstGeom prst="ellipse">
            <a:avLst/>
          </a:prstGeom>
          <a:solidFill>
            <a:srgbClr val="74C69D">
              <a:alpha val="75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59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2920514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prototype assembled — 3D chassis, all hardware mounted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54550"/>
            <a:ext cx="310896" cy="310896"/>
          </a:xfrm>
          <a:prstGeom prst="ellipse">
            <a:avLst/>
          </a:prstGeom>
          <a:solidFill>
            <a:srgbClr val="E76F51">
              <a:alpha val="7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5455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815864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avoidance &amp; path planning not achieved — planned and still working on 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297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4258994"/>
            <a:ext cx="8065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Camera, HC-SR04, LDR integration not achieved — Ubuntu Server does not support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libcamera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libraries &amp; insufficient time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Solar Grass Cutting Robot  |  Tan Qi Yuan  |  9 April 2026  |  BEng Robotics &amp; AI</a:t>
            </a:r>
            <a:endParaRPr lang="en-US" sz="800" dirty="0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0FAF7656-8E23-42DC-B0E7-39E1B9EE9151}"/>
              </a:ext>
            </a:extLst>
          </p:cNvPr>
          <p:cNvSpPr/>
          <p:nvPr/>
        </p:nvSpPr>
        <p:spPr>
          <a:xfrm>
            <a:off x="365760" y="4297680"/>
            <a:ext cx="310896" cy="310896"/>
          </a:xfrm>
          <a:prstGeom prst="ellipse">
            <a:avLst/>
          </a:prstGeom>
          <a:solidFill>
            <a:srgbClr val="E76F51">
              <a:alpha val="7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B1FC6374-2E59-ACA2-B7A3-F58C7BB0C746}"/>
              </a:ext>
            </a:extLst>
          </p:cNvPr>
          <p:cNvSpPr/>
          <p:nvPr/>
        </p:nvSpPr>
        <p:spPr>
          <a:xfrm>
            <a:off x="365760" y="4297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DE3751FB-7A66-0E06-27BB-F9A81D6F2336}"/>
              </a:ext>
            </a:extLst>
          </p:cNvPr>
          <p:cNvSpPr/>
          <p:nvPr/>
        </p:nvSpPr>
        <p:spPr>
          <a:xfrm>
            <a:off x="365760" y="3404970"/>
            <a:ext cx="310896" cy="310896"/>
          </a:xfrm>
          <a:prstGeom prst="ellipse">
            <a:avLst/>
          </a:prstGeom>
          <a:solidFill>
            <a:srgbClr val="E76F51">
              <a:alpha val="75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EE057414-7362-4F6D-0DE8-D8A8505A8BBE}"/>
              </a:ext>
            </a:extLst>
          </p:cNvPr>
          <p:cNvSpPr/>
          <p:nvPr/>
        </p:nvSpPr>
        <p:spPr>
          <a:xfrm>
            <a:off x="365760" y="34049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CFBD0D2E-35EC-B03C-CD8D-B6FB002FC867}"/>
              </a:ext>
            </a:extLst>
          </p:cNvPr>
          <p:cNvSpPr/>
          <p:nvPr/>
        </p:nvSpPr>
        <p:spPr>
          <a:xfrm>
            <a:off x="804672" y="337484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 not achieved — unforeseen SD card failure + no wheel encoders + IMU for odometry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Development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 — in priority order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170432"/>
            <a:ext cx="21031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170432"/>
            <a:ext cx="2103120" cy="38404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161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#1 — Immediate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16093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 → Autonomous Navigation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" y="190195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wheel encoders &amp; IMU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fake odometry node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Nav2 autonomous navigation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Boustrophedon cutting path plan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395728" y="1170432"/>
            <a:ext cx="21031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95728" y="1170432"/>
            <a:ext cx="210312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9736" y="12161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#2 — Immediate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59736" y="16093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Speed Tuning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59736" y="190195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linear PWM duty cycle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angular speed/gain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626864" y="1170432"/>
            <a:ext cx="21031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170432"/>
            <a:ext cx="210312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2161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#3 — Short term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0872" y="16093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Power Upgrade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90872" y="190195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higher wattage solar panel</a:t>
            </a:r>
            <a:r>
              <a:rPr lang="en-US" sz="920" dirty="0"/>
              <a:t> </a:t>
            </a: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sustainable charging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858000" y="1170432"/>
            <a:ext cx="21031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" y="2953512"/>
            <a:ext cx="21031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395728" y="2953512"/>
            <a:ext cx="21031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395728" y="2953512"/>
            <a:ext cx="210312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9736" y="29992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#6 — Ongoing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59736" y="33924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Version Control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459736" y="368503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 control for all code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weekly SD card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backup to network share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626864" y="2953512"/>
            <a:ext cx="21031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26864" y="2953512"/>
            <a:ext cx="2103120" cy="384048"/>
          </a:xfrm>
          <a:prstGeom prst="rect">
            <a:avLst/>
          </a:prstGeom>
          <a:solidFill>
            <a:srgbClr val="40916C"/>
          </a:solidFill>
          <a:ln w="12700">
            <a:noFill/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90872" y="29992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#7 — Future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90872" y="33924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Chassis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90872" y="368503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 Fusion 360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component fit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Weatherproof enclosure</a:t>
            </a:r>
          </a:p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system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858000" y="2953512"/>
            <a:ext cx="21031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CC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58000" y="2953512"/>
            <a:ext cx="2103120" cy="384048"/>
          </a:xfrm>
          <a:prstGeom prst="rect">
            <a:avLst/>
          </a:prstGeom>
          <a:solidFill>
            <a:srgbClr val="40916C"/>
          </a:solidFill>
          <a:ln w="12700">
            <a:noFill/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22008" y="29992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#8 — Future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22008" y="33924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Control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922008" y="368503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Wi-Fi or Bluetooth to replace keyboard </a:t>
            </a:r>
            <a:r>
              <a:rPr lang="en-US" sz="92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</a:t>
            </a:r>
            <a:r>
              <a:rPr lang="en-US" sz="920" dirty="0"/>
              <a:t> </a:t>
            </a: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customize mobile app interface</a:t>
            </a:r>
            <a:r>
              <a:rPr lang="en-US" sz="920" dirty="0"/>
              <a:t> </a:t>
            </a: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convenience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Solar Grass Cutting Robot  |  Tan Qi Yuan  |  9 April 2026  |  BEng Robotics &amp; AI</a:t>
            </a:r>
            <a:endParaRPr lang="en-US" sz="800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022F96F0-A70B-17A6-F61A-0273EDC08208}"/>
              </a:ext>
            </a:extLst>
          </p:cNvPr>
          <p:cNvSpPr/>
          <p:nvPr/>
        </p:nvSpPr>
        <p:spPr>
          <a:xfrm>
            <a:off x="6858000" y="1171956"/>
            <a:ext cx="2103120" cy="384048"/>
          </a:xfrm>
          <a:prstGeom prst="rect">
            <a:avLst/>
          </a:prstGeom>
          <a:solidFill>
            <a:srgbClr val="F4A261"/>
          </a:solidFill>
          <a:ln w="12700">
            <a:noFill/>
            <a:prstDash val="solid"/>
          </a:ln>
        </p:spPr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7FBF8989-CADF-2476-9643-2250C4159CB5}"/>
              </a:ext>
            </a:extLst>
          </p:cNvPr>
          <p:cNvSpPr/>
          <p:nvPr/>
        </p:nvSpPr>
        <p:spPr>
          <a:xfrm>
            <a:off x="6922008" y="121767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#5 — Short term</a:t>
            </a:r>
            <a:endParaRPr lang="en-US" sz="900" dirty="0"/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E3E219DC-7D5B-278D-27A5-73C8D8E7BD3A}"/>
              </a:ext>
            </a:extLst>
          </p:cNvPr>
          <p:cNvSpPr/>
          <p:nvPr/>
        </p:nvSpPr>
        <p:spPr>
          <a:xfrm>
            <a:off x="6922008" y="16108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Motor</a:t>
            </a:r>
            <a:endParaRPr lang="en-US" sz="1050" dirty="0"/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8B1D6635-9424-7C62-9294-FEA9C9744A22}"/>
              </a:ext>
            </a:extLst>
          </p:cNvPr>
          <p:cNvSpPr/>
          <p:nvPr/>
        </p:nvSpPr>
        <p:spPr>
          <a:xfrm>
            <a:off x="6922008" y="1903476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better motor cutter to cut the grass efficiently </a:t>
            </a:r>
            <a:endParaRPr lang="en-US" sz="920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F6053872-78E8-76D2-3428-D9F47A3BD289}"/>
              </a:ext>
            </a:extLst>
          </p:cNvPr>
          <p:cNvSpPr/>
          <p:nvPr/>
        </p:nvSpPr>
        <p:spPr>
          <a:xfrm>
            <a:off x="164592" y="2956444"/>
            <a:ext cx="2103120" cy="38404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2A12A61C-2FAE-D0A9-5179-5B7CFFD6D059}"/>
              </a:ext>
            </a:extLst>
          </p:cNvPr>
          <p:cNvSpPr/>
          <p:nvPr/>
        </p:nvSpPr>
        <p:spPr>
          <a:xfrm>
            <a:off x="228600" y="300216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#4 — Short term</a:t>
            </a:r>
            <a:endParaRPr lang="en-US" sz="900" dirty="0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D2ABF19D-05C7-FECF-0CA7-D2744721CD76}"/>
              </a:ext>
            </a:extLst>
          </p:cNvPr>
          <p:cNvSpPr/>
          <p:nvPr/>
        </p:nvSpPr>
        <p:spPr>
          <a:xfrm>
            <a:off x="228600" y="339535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YOLOv8</a:t>
            </a:r>
            <a:endParaRPr lang="en-US" sz="1050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E9D3F5D5-21EA-F3FD-FCBF-9A79BC1CA028}"/>
              </a:ext>
            </a:extLst>
          </p:cNvPr>
          <p:cNvSpPr/>
          <p:nvPr/>
        </p:nvSpPr>
        <p:spPr>
          <a:xfrm>
            <a:off x="228600" y="3687964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USB webcam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Camera feed in ROS2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YOLOv8 object detection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743200"/>
            <a:ext cx="3657600" cy="3657600"/>
          </a:xfrm>
          <a:prstGeom prst="ellipse">
            <a:avLst/>
          </a:prstGeom>
          <a:solidFill>
            <a:srgbClr val="2D6A4F">
              <a:alpha val="22000"/>
            </a:srgbClr>
          </a:solidFill>
          <a:ln w="12700">
            <a:solidFill>
              <a:srgbClr val="2D6A4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 &amp; Q&amp;A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32004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will show: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2460" y="1280160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Raspberry Pi 4B running ROS2 Kilted accessed via VNC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460" y="1755648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RPLidar A1M8 — live 360° scan in RVIZ2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2460" y="2231136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2WD teleoperation — motors responding to keyboard commands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2460" y="2706624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Saved SLAM map in ~/robot/maps/ (.pgm | .yaml)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2460" y="3182112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Autonomous navigation — not available (needs more time to create fake odometry)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84620" y="193548"/>
            <a:ext cx="2423160" cy="3378708"/>
          </a:xfrm>
          <a:prstGeom prst="rect">
            <a:avLst/>
          </a:prstGeom>
          <a:solidFill>
            <a:srgbClr val="2D6A4F">
              <a:alpha val="75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7772" y="2788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57772" y="5958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wks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7772" y="87020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duration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57772" y="11496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phases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57772" y="14239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Gantt chart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57772" y="17998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✔ done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57772" y="20741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57772" y="24018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Kilted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7772" y="267614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Ubuntu Server 24.04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57772" y="30342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53200" y="33040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saved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Solar Grass Cutting Robot  |  Tan Qi Yuan  |  9 April 2026  |  BEng Robotics &amp; AI</a:t>
            </a:r>
            <a:endParaRPr lang="en-US" sz="8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B00BB86D-8CFA-4E85-316C-08346095BF57}"/>
              </a:ext>
            </a:extLst>
          </p:cNvPr>
          <p:cNvSpPr/>
          <p:nvPr/>
        </p:nvSpPr>
        <p:spPr>
          <a:xfrm>
            <a:off x="228600" y="411480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  —  </a:t>
            </a:r>
            <a:r>
              <a:rPr lang="en-US" sz="18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80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380B5CF3-74C2-6681-C7CD-9B3332CDB584}"/>
              </a:ext>
            </a:extLst>
          </p:cNvPr>
          <p:cNvSpPr/>
          <p:nvPr/>
        </p:nvSpPr>
        <p:spPr>
          <a:xfrm>
            <a:off x="220980" y="3669792"/>
            <a:ext cx="8686800" cy="804672"/>
          </a:xfrm>
          <a:prstGeom prst="rect">
            <a:avLst/>
          </a:prstGeom>
          <a:solidFill>
            <a:srgbClr val="F0A500">
              <a:alpha val="9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E47168F0-BBC9-191B-B063-900F34A49D2A}"/>
              </a:ext>
            </a:extLst>
          </p:cNvPr>
          <p:cNvSpPr/>
          <p:nvPr/>
        </p:nvSpPr>
        <p:spPr>
          <a:xfrm>
            <a:off x="224028" y="3669792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  — </a:t>
            </a:r>
            <a:r>
              <a:rPr lang="en-US" sz="18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149151-9904-E5B1-9388-AD6742CC0C94}"/>
              </a:ext>
            </a:extLst>
          </p:cNvPr>
          <p:cNvSpPr txBox="1"/>
          <p:nvPr/>
        </p:nvSpPr>
        <p:spPr>
          <a:xfrm>
            <a:off x="274320" y="4529328"/>
            <a:ext cx="3924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GITHUB Link: </a:t>
            </a:r>
            <a:r>
              <a:rPr lang="en-MY" sz="8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Stored: Flowchart, Gantt Chart (Old/New), Risk Assessment, Codes</a:t>
            </a:r>
            <a:endParaRPr lang="en-MY" sz="800" dirty="0">
              <a:solidFill>
                <a:schemeClr val="bg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>
              <a:buNone/>
            </a:pPr>
            <a:r>
              <a:rPr lang="en-MY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3" action="ppaction://hlinkfile"/>
              </a:rPr>
              <a:t>[URL]</a:t>
            </a:r>
            <a:r>
              <a:rPr lang="en-MY" sz="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MY" sz="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–</a:t>
            </a:r>
            <a:r>
              <a:rPr lang="en-MY" sz="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MY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4"/>
              </a:rPr>
              <a:t>https://github.com/Seventy969/IMP</a:t>
            </a:r>
            <a:endParaRPr lang="en-MY" sz="800" dirty="0"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5B2E00-7BF6-3C8B-574C-DED2C27EF9A0}"/>
              </a:ext>
            </a:extLst>
          </p:cNvPr>
          <p:cNvSpPr txBox="1"/>
          <p:nvPr/>
        </p:nvSpPr>
        <p:spPr>
          <a:xfrm>
            <a:off x="5453028" y="4517136"/>
            <a:ext cx="33861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YouTube Link: </a:t>
            </a:r>
            <a:r>
              <a:rPr lang="en-MY" sz="800" dirty="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Stored: Testing &amp; Demo Video</a:t>
            </a:r>
            <a:endParaRPr lang="en-MY" sz="800" dirty="0">
              <a:solidFill>
                <a:schemeClr val="bg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>
              <a:buNone/>
            </a:pPr>
            <a:r>
              <a:rPr lang="en-MY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5" action="ppaction://hlinkfile"/>
              </a:rPr>
              <a:t>[</a:t>
            </a:r>
            <a:r>
              <a:rPr lang="en-MY" sz="800" u="sng" dirty="0" err="1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5" action="ppaction://hlinkfile"/>
              </a:rPr>
              <a:t>SolarChargeBatteryTestingURL</a:t>
            </a:r>
            <a:r>
              <a:rPr lang="en-MY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5" action="ppaction://hlinkfile"/>
              </a:rPr>
              <a:t>]</a:t>
            </a:r>
            <a:r>
              <a:rPr lang="en-MY" sz="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MY" sz="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–</a:t>
            </a:r>
            <a:r>
              <a:rPr lang="en-MY" sz="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MY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6"/>
              </a:rPr>
              <a:t>https://youtu.be/AOLYDHLWg1Y</a:t>
            </a:r>
            <a:endParaRPr lang="en-MY" sz="800" dirty="0"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>
              <a:buNone/>
            </a:pPr>
            <a:r>
              <a:rPr lang="en-MY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7" action="ppaction://hlinkfile"/>
              </a:rPr>
              <a:t>[</a:t>
            </a:r>
            <a:r>
              <a:rPr lang="en-MY" sz="800" u="sng" dirty="0" err="1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7" action="ppaction://hlinkfile"/>
              </a:rPr>
              <a:t>SolarChargeaControllerTestingURL</a:t>
            </a:r>
            <a:r>
              <a:rPr lang="en-MY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7" action="ppaction://hlinkfile"/>
              </a:rPr>
              <a:t>]</a:t>
            </a:r>
            <a:r>
              <a:rPr lang="en-MY" sz="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MY" sz="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–</a:t>
            </a:r>
            <a:r>
              <a:rPr lang="en-MY" sz="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MY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8"/>
              </a:rPr>
              <a:t>https://youtu.be/r81rF58QbzE</a:t>
            </a:r>
            <a:endParaRPr lang="en-MY" sz="800" dirty="0"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>
              <a:buNone/>
            </a:pPr>
            <a:r>
              <a:rPr lang="en-MY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9"/>
              </a:rPr>
              <a:t>[</a:t>
            </a:r>
            <a:r>
              <a:rPr lang="en-MY" sz="800" u="sng" dirty="0" err="1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9"/>
              </a:rPr>
              <a:t>FullRunDemoURL</a:t>
            </a:r>
            <a:r>
              <a:rPr lang="en-MY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9"/>
              </a:rPr>
              <a:t>]</a:t>
            </a:r>
            <a:r>
              <a:rPr lang="en-MY" sz="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MY" sz="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–</a:t>
            </a:r>
            <a:r>
              <a:rPr lang="en-MY" sz="8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  <a:r>
              <a:rPr lang="en-MY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hlinkClick r:id="rId9"/>
              </a:rPr>
              <a:t>https://youtu.be/DD2j_6H0hDs</a:t>
            </a:r>
            <a:endParaRPr lang="en-MY" sz="800" dirty="0"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269553-3540-810E-1320-548F64C89E1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334" t="28573" r="4252" b="24266"/>
          <a:stretch>
            <a:fillRect/>
          </a:stretch>
        </p:blipFill>
        <p:spPr>
          <a:xfrm>
            <a:off x="4597908" y="189819"/>
            <a:ext cx="1802892" cy="12822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1638</Words>
  <Application>Microsoft Office PowerPoint</Application>
  <PresentationFormat>On-screen Show (16:9)</PresentationFormat>
  <Paragraphs>243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Solar Powered Grass Cutting Robot</dc:title>
  <dc:subject>PptxGenJS Presentation</dc:subject>
  <dc:creator>Tan Qi Yuan</dc:creator>
  <cp:lastModifiedBy>Tan Yu Fei</cp:lastModifiedBy>
  <cp:revision>15</cp:revision>
  <dcterms:created xsi:type="dcterms:W3CDTF">2026-04-05T21:53:10Z</dcterms:created>
  <dcterms:modified xsi:type="dcterms:W3CDTF">2026-04-07T13:13:09Z</dcterms:modified>
</cp:coreProperties>
</file>